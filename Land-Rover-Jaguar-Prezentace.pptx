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3A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3A3A3A"/>
                </a:solidFill>
                <a:latin typeface="Calibri"/>
              </a:rPr>
              <a:t>Počet nakoupených vozů podle měsíce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1B3A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Led</c:v>
                  </c:pt>
                  <c:pt idx="1">
                    <c:v>Úno</c:v>
                  </c:pt>
                  <c:pt idx="2">
                    <c:v>Bře</c:v>
                  </c:pt>
                  <c:pt idx="3">
                    <c:v>Dub</c:v>
                  </c:pt>
                  <c:pt idx="4">
                    <c:v>Kvě</c:v>
                  </c:pt>
                  <c:pt idx="5">
                    <c:v>Čvn</c:v>
                  </c:pt>
                  <c:pt idx="6">
                    <c:v>Čvc</c:v>
                  </c:pt>
                  <c:pt idx="7">
                    <c:v>Srp</c:v>
                  </c:pt>
                  <c:pt idx="8">
                    <c:v>Zář</c:v>
                  </c:pt>
                  <c:pt idx="9">
                    <c:v>Říj</c:v>
                  </c:pt>
                  <c:pt idx="10">
                    <c:v>Lis</c:v>
                  </c:pt>
                  <c:pt idx="11">
                    <c:v>Pro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  <c:pt idx="4">
                  <c:v>2</c:v>
                </c:pt>
                <c:pt idx="5">
                  <c:v>1</c:v>
                </c:pt>
                <c:pt idx="6">
                  <c:v>2</c:v>
                </c:pt>
                <c:pt idx="7">
                  <c:v>4</c:v>
                </c:pt>
                <c:pt idx="8">
                  <c:v>3</c:v>
                </c:pt>
                <c:pt idx="9">
                  <c:v>5</c:v>
                </c:pt>
                <c:pt idx="10">
                  <c:v>8</c:v>
                </c:pt>
                <c:pt idx="11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(YTD)</c:v>
                </c:pt>
              </c:strCache>
            </c:strRef>
          </c:tx>
          <c:spPr>
            <a:solidFill>
              <a:srgbClr val="C9A6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Led</c:v>
                  </c:pt>
                  <c:pt idx="1">
                    <c:v>Úno</c:v>
                  </c:pt>
                  <c:pt idx="2">
                    <c:v>Bře</c:v>
                  </c:pt>
                  <c:pt idx="3">
                    <c:v>Dub</c:v>
                  </c:pt>
                  <c:pt idx="4">
                    <c:v>Kvě</c:v>
                  </c:pt>
                  <c:pt idx="5">
                    <c:v>Čvn</c:v>
                  </c:pt>
                  <c:pt idx="6">
                    <c:v>Čvc</c:v>
                  </c:pt>
                  <c:pt idx="7">
                    <c:v>Srp</c:v>
                  </c:pt>
                  <c:pt idx="8">
                    <c:v>Zář</c:v>
                  </c:pt>
                  <c:pt idx="9">
                    <c:v>Říj</c:v>
                  </c:pt>
                  <c:pt idx="10">
                    <c:v>Lis</c:v>
                  </c:pt>
                  <c:pt idx="11">
                    <c:v>Pro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</c:v>
                </c:pt>
                <c:pt idx="1">
                  <c:v>6</c:v>
                </c:pt>
                <c:pt idx="2">
                  <c:v>4</c:v>
                </c:pt>
                <c:pt idx="3">
                  <c:v>2</c:v>
                </c:pt>
                <c:pt idx="4">
                  <c:v>5</c:v>
                </c:pt>
                <c:pt idx="5">
                  <c:v>6</c:v>
                </c:pt>
                <c:pt idx="6">
                  <c:v>3</c:v>
                </c:pt>
                <c:pt idx="7">
                  <c:v>2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3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3E0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Interní</c:v>
                </c:pt>
              </c:strCache>
            </c:strRef>
          </c:tx>
          <c:spPr>
            <a:solidFill>
              <a:srgbClr val="3E7C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Led</c:v>
                  </c:pt>
                  <c:pt idx="1">
                    <c:v>Úno</c:v>
                  </c:pt>
                  <c:pt idx="2">
                    <c:v>Bře</c:v>
                  </c:pt>
                  <c:pt idx="3">
                    <c:v>Dub</c:v>
                  </c:pt>
                  <c:pt idx="4">
                    <c:v>Kvě</c:v>
                  </c:pt>
                  <c:pt idx="5">
                    <c:v>Čvn</c:v>
                  </c:pt>
                  <c:pt idx="6">
                    <c:v>Čvc</c:v>
                  </c:pt>
                  <c:pt idx="7">
                    <c:v>Srp</c:v>
                  </c:pt>
                  <c:pt idx="8">
                    <c:v>Zář</c:v>
                  </c:pt>
                  <c:pt idx="9">
                    <c:v>Říj</c:v>
                  </c:pt>
                  <c:pt idx="10">
                    <c:v>Lis</c:v>
                  </c:pt>
                  <c:pt idx="11">
                    <c:v>Pro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4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3</c:v>
                </c:pt>
                <c:pt idx="7">
                  <c:v>0</c:v>
                </c:pt>
                <c:pt idx="8">
                  <c:v>2</c:v>
                </c:pt>
                <c:pt idx="9">
                  <c:v>2</c:v>
                </c:pt>
                <c:pt idx="10">
                  <c:v>1</c:v>
                </c:pt>
                <c:pt idx="11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Externí</c:v>
                </c:pt>
              </c:strCache>
            </c:strRef>
          </c:tx>
          <c:spPr>
            <a:solidFill>
              <a:srgbClr val="9C3B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Led</c:v>
                  </c:pt>
                  <c:pt idx="1">
                    <c:v>Úno</c:v>
                  </c:pt>
                  <c:pt idx="2">
                    <c:v>Bře</c:v>
                  </c:pt>
                  <c:pt idx="3">
                    <c:v>Dub</c:v>
                  </c:pt>
                  <c:pt idx="4">
                    <c:v>Kvě</c:v>
                  </c:pt>
                  <c:pt idx="5">
                    <c:v>Čvn</c:v>
                  </c:pt>
                  <c:pt idx="6">
                    <c:v>Čvc</c:v>
                  </c:pt>
                  <c:pt idx="7">
                    <c:v>Srp</c:v>
                  </c:pt>
                  <c:pt idx="8">
                    <c:v>Zář</c:v>
                  </c:pt>
                  <c:pt idx="9">
                    <c:v>Říj</c:v>
                  </c:pt>
                  <c:pt idx="10">
                    <c:v>Lis</c:v>
                  </c:pt>
                  <c:pt idx="11">
                    <c:v>Pro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</c:v>
                </c:pt>
                <c:pt idx="1">
                  <c:v>5</c:v>
                </c:pt>
                <c:pt idx="2">
                  <c:v>1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0</c:v>
                </c:pt>
                <c:pt idx="8">
                  <c:v>2</c:v>
                </c:pt>
                <c:pt idx="9">
                  <c:v>1</c:v>
                </c:pt>
                <c:pt idx="10">
                  <c:v>4</c:v>
                </c:pt>
                <c:pt idx="11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12700" cap="flat">
              <a:solidFill>
                <a:srgbClr val="E3E0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Interní</c:v>
                </c:pt>
              </c:strCache>
            </c:strRef>
          </c:tx>
          <c:spPr>
            <a:solidFill>
              <a:srgbClr val="3E7C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Led</c:v>
                  </c:pt>
                  <c:pt idx="1">
                    <c:v>Úno</c:v>
                  </c:pt>
                  <c:pt idx="2">
                    <c:v>Bře</c:v>
                  </c:pt>
                  <c:pt idx="3">
                    <c:v>Dub</c:v>
                  </c:pt>
                  <c:pt idx="4">
                    <c:v>Kvě</c:v>
                  </c:pt>
                  <c:pt idx="5">
                    <c:v>Čvn</c:v>
                  </c:pt>
                  <c:pt idx="6">
                    <c:v>Čvc</c:v>
                  </c:pt>
                  <c:pt idx="7">
                    <c:v>Srp</c:v>
                  </c:pt>
                  <c:pt idx="8">
                    <c:v>Zář</c:v>
                  </c:pt>
                  <c:pt idx="9">
                    <c:v>Říj</c:v>
                  </c:pt>
                  <c:pt idx="10">
                    <c:v>Lis</c:v>
                  </c:pt>
                  <c:pt idx="11">
                    <c:v>Pro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7</c:v>
                </c:pt>
                <c:pt idx="7">
                  <c:v>2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Externí</c:v>
                </c:pt>
              </c:strCache>
            </c:strRef>
          </c:tx>
          <c:spPr>
            <a:solidFill>
              <a:srgbClr val="9C3B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Led</c:v>
                  </c:pt>
                  <c:pt idx="1">
                    <c:v>Úno</c:v>
                  </c:pt>
                  <c:pt idx="2">
                    <c:v>Bře</c:v>
                  </c:pt>
                  <c:pt idx="3">
                    <c:v>Dub</c:v>
                  </c:pt>
                  <c:pt idx="4">
                    <c:v>Kvě</c:v>
                  </c:pt>
                  <c:pt idx="5">
                    <c:v>Čvn</c:v>
                  </c:pt>
                  <c:pt idx="6">
                    <c:v>Čvc</c:v>
                  </c:pt>
                  <c:pt idx="7">
                    <c:v>Srp</c:v>
                  </c:pt>
                  <c:pt idx="8">
                    <c:v>Zář</c:v>
                  </c:pt>
                  <c:pt idx="9">
                    <c:v>Říj</c:v>
                  </c:pt>
                  <c:pt idx="10">
                    <c:v>Lis</c:v>
                  </c:pt>
                  <c:pt idx="11">
                    <c:v>Pro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4</c:v>
                </c:pt>
                <c:pt idx="5">
                  <c:v>2</c:v>
                </c:pt>
                <c:pt idx="6">
                  <c:v>4</c:v>
                </c:pt>
                <c:pt idx="7">
                  <c:v>1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12700" cap="flat">
              <a:solidFill>
                <a:srgbClr val="E3E0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4F1E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F4F1EA"/>
                </a:solidFill>
                <a:latin typeface="Calibri"/>
              </a:rPr>
              <a:t>Land Rover + Jaguar, v EUR (firemní referenční měna)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Marže (zisk)</c:v>
                </c:pt>
              </c:strCache>
            </c:strRef>
          </c:tx>
          <c:spPr>
            <a:solidFill>
              <a:srgbClr val="C9A6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2026 (YTD)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98035</c:v>
                </c:pt>
                <c:pt idx="1">
                  <c:v>62786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Náklad na reklamace</c:v>
                </c:pt>
              </c:strCache>
            </c:strRef>
          </c:tx>
          <c:spPr>
            <a:solidFill>
              <a:srgbClr val="9C3B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2026 (YTD)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36527</c:v>
                </c:pt>
                <c:pt idx="1">
                  <c:v>44750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4F1E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34493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4F1E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4F1E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Land Rover + Jaguar</c:v>
                </c:pt>
              </c:strCache>
            </c:strRef>
          </c:tx>
          <c:spPr>
            <a:solidFill>
              <a:srgbClr val="9C3B3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Land Rover + Jaguar</c:v>
                  </c:pt>
                  <c:pt idx="1">
                    <c:v>Renault</c:v>
                  </c:pt>
                  <c:pt idx="2">
                    <c:v>Peugeot</c:v>
                  </c:pt>
                  <c:pt idx="3">
                    <c:v>Citroën</c:v>
                  </c:pt>
                  <c:pt idx="4">
                    <c:v>Škoda</c:v>
                  </c:pt>
                  <c:pt idx="5">
                    <c:v>Ford</c:v>
                  </c:pt>
                  <c:pt idx="6">
                    <c:v>Kia</c:v>
                  </c:pt>
                  <c:pt idx="7">
                    <c:v>Hyundai</c:v>
                  </c:pt>
                  <c:pt idx="8">
                    <c:v>Volkswagen</c:v>
                  </c:pt>
                  <c:pt idx="9">
                    <c:v>Volvo</c:v>
                  </c:pt>
                  <c:pt idx="10">
                    <c:v>BMW</c:v>
                  </c:pt>
                  <c:pt idx="11">
                    <c:v>Mercedes-Benz</c:v>
                  </c:pt>
                  <c:pt idx="12">
                    <c:v>Toyota</c:v>
                  </c:pt>
                  <c:pt idx="13">
                    <c:v>Mazda</c:v>
                  </c:pt>
                  <c:pt idx="14">
                    <c:v>Dacia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50.5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Ostatní značky</c:v>
                </c:pt>
              </c:strCache>
            </c:strRef>
          </c:tx>
          <c:spPr>
            <a:solidFill>
              <a:srgbClr val="3E7C6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Land Rover + Jaguar</c:v>
                  </c:pt>
                  <c:pt idx="1">
                    <c:v>Renault</c:v>
                  </c:pt>
                  <c:pt idx="2">
                    <c:v>Peugeot</c:v>
                  </c:pt>
                  <c:pt idx="3">
                    <c:v>Citroën</c:v>
                  </c:pt>
                  <c:pt idx="4">
                    <c:v>Škoda</c:v>
                  </c:pt>
                  <c:pt idx="5">
                    <c:v>Ford</c:v>
                  </c:pt>
                  <c:pt idx="6">
                    <c:v>Kia</c:v>
                  </c:pt>
                  <c:pt idx="7">
                    <c:v>Hyundai</c:v>
                  </c:pt>
                  <c:pt idx="8">
                    <c:v>Volkswagen</c:v>
                  </c:pt>
                  <c:pt idx="9">
                    <c:v>Volvo</c:v>
                  </c:pt>
                  <c:pt idx="10">
                    <c:v>BMW</c:v>
                  </c:pt>
                  <c:pt idx="11">
                    <c:v>Mercedes-Benz</c:v>
                  </c:pt>
                  <c:pt idx="12">
                    <c:v>Toyota</c:v>
                  </c:pt>
                  <c:pt idx="13">
                    <c:v>Mazda</c:v>
                  </c:pt>
                  <c:pt idx="14">
                    <c:v>Dacia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/>
                </c:pt>
                <c:pt idx="1">
                  <c:v>22.6</c:v>
                </c:pt>
                <c:pt idx="2">
                  <c:v>20.4</c:v>
                </c:pt>
                <c:pt idx="3">
                  <c:v>16.5</c:v>
                </c:pt>
                <c:pt idx="4">
                  <c:v>14.4</c:v>
                </c:pt>
                <c:pt idx="5">
                  <c:v>14.3</c:v>
                </c:pt>
                <c:pt idx="6">
                  <c:v>14.3</c:v>
                </c:pt>
                <c:pt idx="7">
                  <c:v>12.4</c:v>
                </c:pt>
                <c:pt idx="8">
                  <c:v>12.2</c:v>
                </c:pt>
                <c:pt idx="9">
                  <c:v>11.1</c:v>
                </c:pt>
                <c:pt idx="10">
                  <c:v>10.9</c:v>
                </c:pt>
                <c:pt idx="11">
                  <c:v>8.7</c:v>
                </c:pt>
                <c:pt idx="12">
                  <c:v>6.4</c:v>
                </c:pt>
                <c:pt idx="13">
                  <c:v>6.3</c:v>
                </c:pt>
                <c:pt idx="14">
                  <c:v>4.8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4F1E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(n=46)</c:v>
                </c:pt>
              </c:strCache>
            </c:strRef>
          </c:tx>
          <c:spPr>
            <a:solidFill>
              <a:srgbClr val="1B3A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do 2 let</c:v>
                  </c:pt>
                  <c:pt idx="1">
                    <c:v>2–4 roky</c:v>
                  </c:pt>
                  <c:pt idx="2">
                    <c:v>4–6 let</c:v>
                  </c:pt>
                  <c:pt idx="3">
                    <c:v>6–8 let</c:v>
                  </c:pt>
                  <c:pt idx="4">
                    <c:v>8–10 let</c:v>
                  </c:pt>
                  <c:pt idx="5">
                    <c:v>10+ let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7</c:v>
                </c:pt>
                <c:pt idx="2">
                  <c:v>18</c:v>
                </c:pt>
                <c:pt idx="3">
                  <c:v>8</c:v>
                </c:pt>
                <c:pt idx="4">
                  <c:v>8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YTD (n=33)</c:v>
                </c:pt>
              </c:strCache>
            </c:strRef>
          </c:tx>
          <c:spPr>
            <a:solidFill>
              <a:srgbClr val="C9A6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do 2 let</c:v>
                  </c:pt>
                  <c:pt idx="1">
                    <c:v>2–4 roky</c:v>
                  </c:pt>
                  <c:pt idx="2">
                    <c:v>4–6 let</c:v>
                  </c:pt>
                  <c:pt idx="3">
                    <c:v>6–8 let</c:v>
                  </c:pt>
                  <c:pt idx="4">
                    <c:v>8–10 let</c:v>
                  </c:pt>
                  <c:pt idx="5">
                    <c:v>10+ let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5</c:v>
                </c:pt>
                <c:pt idx="2">
                  <c:v>7</c:v>
                </c:pt>
                <c:pt idx="3">
                  <c:v>10</c:v>
                </c:pt>
                <c:pt idx="4">
                  <c:v>7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3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3E0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(n=46)</c:v>
                </c:pt>
              </c:strCache>
            </c:strRef>
          </c:tx>
          <c:spPr>
            <a:solidFill>
              <a:srgbClr val="1B3A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do 30k</c:v>
                  </c:pt>
                  <c:pt idx="1">
                    <c:v>30–60k</c:v>
                  </c:pt>
                  <c:pt idx="2">
                    <c:v>60–90k</c:v>
                  </c:pt>
                  <c:pt idx="3">
                    <c:v>90–120k</c:v>
                  </c:pt>
                  <c:pt idx="4">
                    <c:v>120–150k</c:v>
                  </c:pt>
                  <c:pt idx="5">
                    <c:v>150k+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7</c:v>
                </c:pt>
                <c:pt idx="2">
                  <c:v>13</c:v>
                </c:pt>
                <c:pt idx="3">
                  <c:v>11</c:v>
                </c:pt>
                <c:pt idx="4">
                  <c:v>5</c:v>
                </c:pt>
                <c:pt idx="5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YTD (n=33)</c:v>
                </c:pt>
              </c:strCache>
            </c:strRef>
          </c:tx>
          <c:spPr>
            <a:solidFill>
              <a:srgbClr val="C9A6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do 30k</c:v>
                  </c:pt>
                  <c:pt idx="1">
                    <c:v>30–60k</c:v>
                  </c:pt>
                  <c:pt idx="2">
                    <c:v>60–90k</c:v>
                  </c:pt>
                  <c:pt idx="3">
                    <c:v>90–120k</c:v>
                  </c:pt>
                  <c:pt idx="4">
                    <c:v>120–150k</c:v>
                  </c:pt>
                  <c:pt idx="5">
                    <c:v>150k+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8</c:v>
                </c:pt>
                <c:pt idx="2">
                  <c:v>6</c:v>
                </c:pt>
                <c:pt idx="3">
                  <c:v>7</c:v>
                </c:pt>
                <c:pt idx="4">
                  <c:v>7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3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3E0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(n=47)</c:v>
                </c:pt>
              </c:strCache>
            </c:strRef>
          </c:tx>
          <c:spPr>
            <a:solidFill>
              <a:srgbClr val="3E7C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do 2 let</c:v>
                  </c:pt>
                  <c:pt idx="1">
                    <c:v>2–4 roky</c:v>
                  </c:pt>
                  <c:pt idx="2">
                    <c:v>4–6 let</c:v>
                  </c:pt>
                  <c:pt idx="3">
                    <c:v>6–8 let</c:v>
                  </c:pt>
                  <c:pt idx="4">
                    <c:v>8–10 let</c:v>
                  </c:pt>
                  <c:pt idx="5">
                    <c:v>10+ let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4</c:v>
                </c:pt>
                <c:pt idx="2">
                  <c:v>15</c:v>
                </c:pt>
                <c:pt idx="3">
                  <c:v>12</c:v>
                </c:pt>
                <c:pt idx="4">
                  <c:v>14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YTD (n=44)</c:v>
                </c:pt>
              </c:strCache>
            </c:strRef>
          </c:tx>
          <c:spPr>
            <a:solidFill>
              <a:srgbClr val="9C3B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do 2 let</c:v>
                  </c:pt>
                  <c:pt idx="1">
                    <c:v>2–4 roky</c:v>
                  </c:pt>
                  <c:pt idx="2">
                    <c:v>4–6 let</c:v>
                  </c:pt>
                  <c:pt idx="3">
                    <c:v>6–8 let</c:v>
                  </c:pt>
                  <c:pt idx="4">
                    <c:v>8–10 let</c:v>
                  </c:pt>
                  <c:pt idx="5">
                    <c:v>10+ let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8</c:v>
                </c:pt>
                <c:pt idx="2">
                  <c:v>10</c:v>
                </c:pt>
                <c:pt idx="3">
                  <c:v>9</c:v>
                </c:pt>
                <c:pt idx="4">
                  <c:v>6</c:v>
                </c:pt>
                <c:pt idx="5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3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3E0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(n=47)</c:v>
                </c:pt>
              </c:strCache>
            </c:strRef>
          </c:tx>
          <c:spPr>
            <a:solidFill>
              <a:srgbClr val="3E7C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do 30k</c:v>
                  </c:pt>
                  <c:pt idx="1">
                    <c:v>30–60k</c:v>
                  </c:pt>
                  <c:pt idx="2">
                    <c:v>60–90k</c:v>
                  </c:pt>
                  <c:pt idx="3">
                    <c:v>90–120k</c:v>
                  </c:pt>
                  <c:pt idx="4">
                    <c:v>120–150k</c:v>
                  </c:pt>
                  <c:pt idx="5">
                    <c:v>150k+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14</c:v>
                </c:pt>
                <c:pt idx="3">
                  <c:v>13</c:v>
                </c:pt>
                <c:pt idx="4">
                  <c:v>8</c:v>
                </c:pt>
                <c:pt idx="5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YTD (n=44)</c:v>
                </c:pt>
              </c:strCache>
            </c:strRef>
          </c:tx>
          <c:spPr>
            <a:solidFill>
              <a:srgbClr val="9C3B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do 30k</c:v>
                  </c:pt>
                  <c:pt idx="1">
                    <c:v>30–60k</c:v>
                  </c:pt>
                  <c:pt idx="2">
                    <c:v>60–90k</c:v>
                  </c:pt>
                  <c:pt idx="3">
                    <c:v>90–120k</c:v>
                  </c:pt>
                  <c:pt idx="4">
                    <c:v>120–150k</c:v>
                  </c:pt>
                  <c:pt idx="5">
                    <c:v>150k+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7</c:v>
                </c:pt>
                <c:pt idx="2">
                  <c:v>15</c:v>
                </c:pt>
                <c:pt idx="3">
                  <c:v>6</c:v>
                </c:pt>
                <c:pt idx="4">
                  <c:v>11</c:v>
                </c:pt>
                <c:pt idx="5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3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3E0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754880" cy="4754880"/>
          </a:xfrm>
          <a:prstGeom prst="ellipse">
            <a:avLst/>
          </a:prstGeom>
          <a:solidFill>
            <a:srgbClr val="2E524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274320"/>
            <a:ext cx="2926080" cy="2926080"/>
          </a:xfrm>
          <a:prstGeom prst="ellipse">
            <a:avLst/>
          </a:prstGeom>
          <a:solidFill>
            <a:srgbClr val="C9A64A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ROVER  &amp;  JAGUAR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Prodeje a reklamace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Analýza 2025 a 2026 (YTD) · zdroj dat: Salesforce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4160520"/>
            <a:ext cx="1280160" cy="0"/>
          </a:xfrm>
          <a:prstGeom prst="line">
            <a:avLst/>
          </a:prstGeom>
          <a:noFill/>
          <a:ln w="25400">
            <a:solidFill>
              <a:srgbClr val="C9A6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343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„Prodaný vůz“ = Car Purchase Done (Carvago vůz reálně nakoupilo od dealera)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Připraveno pro interní review  ·  16. srpna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METODOLOGIE A ROZSAH DAT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čteme čísla v této prezentaci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2103120"/>
          </a:xfrm>
          <a:prstGeom prst="roundRect">
            <a:avLst>
              <a:gd name="adj" fmla="val 3478"/>
            </a:avLst>
          </a:prstGeom>
          <a:solidFill>
            <a:srgbClr val="FAF9F6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1B3A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5623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Jedna skupina vozů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Rover a Jaguar jsou v celé analýze sloučené do jedné společné skupiny — nikde nejsou rozdělené po značkách.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5166360" cy="2103120"/>
          </a:xfrm>
          <a:prstGeom prst="roundRect">
            <a:avLst>
              <a:gd name="adj" fmla="val 3478"/>
            </a:avLst>
          </a:prstGeom>
          <a:solidFill>
            <a:srgbClr val="FAF9F6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874520"/>
            <a:ext cx="502920" cy="502920"/>
          </a:xfrm>
          <a:prstGeom prst="ellipse">
            <a:avLst/>
          </a:prstGeom>
          <a:solidFill>
            <a:srgbClr val="1B3A2F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95160" y="185623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„Prodáno“ = Car Purchase Done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251460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Vůz je počítán jako prodaný v okamžiku, kdy ho Carvago reálně nakoupilo od dealera (vyplněné datum platby dealerovi). Nezáleží na tom, zda už byl fyzicky předán zákazníkovi.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166360" cy="2103120"/>
          </a:xfrm>
          <a:prstGeom prst="roundRect">
            <a:avLst>
              <a:gd name="adj" fmla="val 3478"/>
            </a:avLst>
          </a:prstGeom>
          <a:solidFill>
            <a:srgbClr val="FAF9F6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1B3A2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18795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Reklamace = vznikly v daném roce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84632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Počítáme reklamace podle data jejich vzniku (rok 2025 / 2026) na vozech Land Rover a Jaguar — nezávisle na tom, kdy byl konkrétní vůz nakoupen.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0" y="3931920"/>
            <a:ext cx="5166360" cy="2103120"/>
          </a:xfrm>
          <a:prstGeom prst="roundRect">
            <a:avLst>
              <a:gd name="adj" fmla="val 3478"/>
            </a:avLst>
          </a:prstGeom>
          <a:solidFill>
            <a:srgbClr val="FAF9F6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4206240"/>
            <a:ext cx="502920" cy="502920"/>
          </a:xfrm>
          <a:prstGeom prst="ellipse">
            <a:avLst/>
          </a:prstGeom>
          <a:solidFill>
            <a:srgbClr val="1B3A2F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95160" y="418795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Cena reklamace: skutečná, nebo predikce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4846320"/>
            <a:ext cx="4617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Pokud reklamace ještě není uzavřená, používáme nejlepší dostupný odhad nákladu (predikci) — jinak reálně vyfakturovanou částku.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Carvago  |  Land Rover &amp; Jaguar — Prodeje a reklamace 2025–2026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PRODANÉ (NAKOUPENÉ) VOZY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Rover + Jaguar — vozy nakoupené po měsících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383280" cy="1051560"/>
          </a:xfrm>
          <a:prstGeom prst="roundRect">
            <a:avLst>
              <a:gd name="adj" fmla="val 6087"/>
            </a:avLst>
          </a:prstGeom>
          <a:solidFill>
            <a:srgbClr val="F4F1E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73352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965960" y="1673352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vozů v roce 2025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06240" y="1600200"/>
            <a:ext cx="3383280" cy="1051560"/>
          </a:xfrm>
          <a:prstGeom prst="roundRect">
            <a:avLst>
              <a:gd name="adj" fmla="val 6087"/>
            </a:avLst>
          </a:prstGeom>
          <a:solidFill>
            <a:srgbClr val="1B3A2F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1673352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623560" y="1673352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vozů v roce 2026 (YTD, do 8/2026)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63840" y="1600200"/>
            <a:ext cx="3383280" cy="1051560"/>
          </a:xfrm>
          <a:prstGeom prst="roundRect">
            <a:avLst>
              <a:gd name="adj" fmla="val 6087"/>
            </a:avLst>
          </a:prstGeom>
          <a:solidFill>
            <a:srgbClr val="F4F1EA"/>
          </a:solidFill>
          <a:ln/>
        </p:spPr>
      </p:sp>
      <p:sp>
        <p:nvSpPr>
          <p:cNvPr id="11" name="Text 9"/>
          <p:cNvSpPr/>
          <p:nvPr/>
        </p:nvSpPr>
        <p:spPr>
          <a:xfrm>
            <a:off x="8092440" y="1673352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281160" y="1673352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celkem 2025–2026</a:t>
            </a:r>
            <a:endParaRPr lang="en-US" sz="12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48640" y="2926080"/>
          <a:ext cx="11064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Carvago  |  Land Rover &amp; Jaguar — Prodeje a reklamace 2025–2026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REKLAMACE — CELKOVÝ PŘEHLED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Kolik reklamací vzniklo a za kolik (interní vs. externí)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AF9F6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9280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313432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reklamací celkem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23500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Interní: 20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34640" y="2606040"/>
            <a:ext cx="2065867" cy="201168"/>
          </a:xfrm>
          <a:prstGeom prst="rect">
            <a:avLst/>
          </a:prstGeom>
          <a:solidFill>
            <a:srgbClr val="3E7C6F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291693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C3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Externí: 27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34640" y="3172968"/>
            <a:ext cx="2788920" cy="201168"/>
          </a:xfrm>
          <a:prstGeom prst="rect">
            <a:avLst/>
          </a:prstGeom>
          <a:solidFill>
            <a:srgbClr val="9C3B32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657600"/>
            <a:ext cx="4800600" cy="0"/>
          </a:xfrm>
          <a:prstGeom prst="line">
            <a:avLst/>
          </a:prstGeom>
          <a:noFill/>
          <a:ln w="12700">
            <a:solidFill>
              <a:srgbClr val="E3E0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404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Celkový náklad (skutečný / odhad):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13308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890 529 Kč  /  36 527 €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590288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Průměr na 1 reklamaci: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882896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18 947 Kč / 777 €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2960" y="5340096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Průměr na 1 nakoupený vůz daného roku: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19 359 Kč / 794 €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26364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AF9F6"/>
          </a:solidFill>
          <a:ln w="12700">
            <a:solidFill>
              <a:srgbClr val="E3E0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189280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(YTD)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537960" y="2313432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537960" y="3108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reklamací celkem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49640" y="23500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Interní: 15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549640" y="2606040"/>
            <a:ext cx="1442545" cy="201168"/>
          </a:xfrm>
          <a:prstGeom prst="rect">
            <a:avLst/>
          </a:prstGeom>
          <a:solidFill>
            <a:srgbClr val="3E7C6F"/>
          </a:solidFill>
          <a:ln/>
        </p:spPr>
      </p:sp>
      <p:sp>
        <p:nvSpPr>
          <p:cNvPr id="25" name="Text 23"/>
          <p:cNvSpPr/>
          <p:nvPr/>
        </p:nvSpPr>
        <p:spPr>
          <a:xfrm>
            <a:off x="8549640" y="291693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C3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Externí: 29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549640" y="3172968"/>
            <a:ext cx="2788920" cy="201168"/>
          </a:xfrm>
          <a:prstGeom prst="rect">
            <a:avLst/>
          </a:prstGeom>
          <a:solidFill>
            <a:srgbClr val="9C3B32"/>
          </a:solidFill>
          <a:ln/>
        </p:spPr>
      </p:sp>
      <p:sp>
        <p:nvSpPr>
          <p:cNvPr id="27" name="Shape 25"/>
          <p:cNvSpPr/>
          <p:nvPr/>
        </p:nvSpPr>
        <p:spPr>
          <a:xfrm>
            <a:off x="6537960" y="3657600"/>
            <a:ext cx="4800600" cy="0"/>
          </a:xfrm>
          <a:prstGeom prst="line">
            <a:avLst/>
          </a:prstGeom>
          <a:noFill/>
          <a:ln w="12700">
            <a:solidFill>
              <a:srgbClr val="E3E0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8404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Celkový náklad (skutečný / odhad):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37960" y="413308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1 086 721 Kč  /  44 750 €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6537960" y="4590288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Průměr na 1 reklamaci: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37960" y="4882896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24 698 Kč / 1 017 €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6537960" y="5340096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Průměr na 1 nakoupený vůz daného roku: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537960" y="563270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32 931 Kč / 1 355 €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Carvago  |  Land Rover &amp; Jaguar — Prodeje a reklamace 2025–2026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REKLAMACE V ČASE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Reklamace po měsících — interní vs. externí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20240"/>
          <a:ext cx="5623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(YTD do srpna)</a:t>
            </a:r>
            <a:endParaRPr lang="en-US" sz="15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172200" y="1920240"/>
          <a:ext cx="5623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Carvago  |  Land Rover &amp; Jaguar — Prodeje a reklamace 2025–2026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FINANČNÍ DOPAD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Marže vs. náklady na reklamace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492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00200"/>
            <a:ext cx="4206240" cy="2057400"/>
          </a:xfrm>
          <a:prstGeom prst="roundRect">
            <a:avLst>
              <a:gd name="adj" fmla="val 3556"/>
            </a:avLst>
          </a:prstGeom>
          <a:solidFill>
            <a:srgbClr val="2E5240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80960" y="2103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37 %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9601200" y="2240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marže spotřebované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reklamacemi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68096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Čistý zisk po reklamacích: 61 508 €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406640" y="3886200"/>
            <a:ext cx="4206240" cy="2057400"/>
          </a:xfrm>
          <a:prstGeom prst="roundRect">
            <a:avLst>
              <a:gd name="adj" fmla="val 3556"/>
            </a:avLst>
          </a:prstGeom>
          <a:solidFill>
            <a:srgbClr val="5C2A22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0" y="4069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(YTD)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80960" y="4389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71 %</a:t>
            </a:r>
            <a:endParaRPr lang="en-US" sz="4600" dirty="0"/>
          </a:p>
        </p:txBody>
      </p:sp>
      <p:sp>
        <p:nvSpPr>
          <p:cNvPr id="13" name="Text 10"/>
          <p:cNvSpPr/>
          <p:nvPr/>
        </p:nvSpPr>
        <p:spPr>
          <a:xfrm>
            <a:off x="9601200" y="4526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marže spotřebované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reklamacemi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680960" y="5440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Čistý zisk po reklamacích: 18 036 €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Pozn.: marže je čistý obchodní zisk (Salesforce Margin GM1, Profit In Corporate Currency); reklamace do ní vstupují dodatečně jako náklad navíc. Srovnání s dalšími značkami na další straně.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Carvago  |  Land Rover &amp; Jaguar — Prodeje a reklamace 2025–2026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FINANČNÍ DOPAD — BENCHMARK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Land Rover + Jaguar výjimka?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Podíl marže spotřebovaný náklady na reklamace — srovnání 15 značek (souhrnně 2025–2026)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110642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Rover + Jaguar spotřebují reklamacemi 50,5 % vydělané marže — 2–10× více než kterákoli jiná srovnávaná značka (4,8–22,6 %).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Carvago  |  Land Rover &amp; Jaguar — Prodeje a reklamace 2025–2026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VOZOVÉHO PARKU — NÁKUP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staré a najeté vozy nakupujeme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4F1E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5,45 / 6,38 let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383280" y="15544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průměrné stáří při nákupu  (2025 / 2026)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4F1EA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554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77 057 / 86 803 km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098280" y="15544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průměrný nájezd při nákupu  (2025 / 2026)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Stáří vozu při nákupu</a:t>
            </a:r>
            <a:endParaRPr lang="en-US" sz="13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57200" y="2926080"/>
          <a:ext cx="56235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617220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Nájezd vozu při nákupu (km)</a:t>
            </a:r>
            <a:endParaRPr lang="en-US" sz="135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6080760" y="2926080"/>
          <a:ext cx="56235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Carvago  |  Land Rover &amp; Jaguar — Prodeje a reklamace 2025–2026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VOZOVÉHO PARKU — REKLAMACE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staré a najeté jsou vozy, na které vznikla reklamace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BF3E3"/>
          </a:solidFill>
          <a:ln w="12700">
            <a:solidFill>
              <a:srgbClr val="C9A6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6,66 / 7,22 let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383280" y="15544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průměrné stáří vozu při reklamaci  (2025 / 2026)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BF3E3"/>
          </a:solidFill>
          <a:ln w="12700">
            <a:solidFill>
              <a:srgbClr val="C9A6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554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100 043 / 93 779 km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098280" y="15544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průměrný nájezd při reklamaci  (2025 / 2026)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Stáří vozu při vzniku reklamace</a:t>
            </a:r>
            <a:endParaRPr lang="en-US" sz="13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57200" y="2926080"/>
          <a:ext cx="56235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617220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Nájezd vozu při vzniku reklamace (km)</a:t>
            </a:r>
            <a:endParaRPr lang="en-US" sz="135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6080760" y="2926080"/>
          <a:ext cx="56235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Shape 10"/>
          <p:cNvSpPr/>
          <p:nvPr/>
        </p:nvSpPr>
        <p:spPr>
          <a:xfrm>
            <a:off x="548640" y="576072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F4F1EA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5760720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Reklamované vozy jsou v obou letech starší a najetější než průměr celého nákupu — v 2025 o +1,2 roku a +23 tis. km, v 2026 o +0,8 roku, ale jen +7 tis. km (problémy se objevují i u méně najetých vozů).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Carvago  |  Land Rover &amp; Jaguar — Prodeje a reklamace 2025–2026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SHRNUTÍ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Klíčová zjištění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66360" cy="2057400"/>
          </a:xfrm>
          <a:prstGeom prst="roundRect">
            <a:avLst>
              <a:gd name="adj" fmla="val 3556"/>
            </a:avLst>
          </a:prstGeom>
          <a:solidFill>
            <a:srgbClr val="FAF9F6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Nákup zpomaluje meziročně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2359152"/>
            <a:ext cx="4617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8 měsíců 2026 bylo nakoupeno 33 vozů — při zachování tempa to odpovídá cca 50 vozům za celý rok, mírně nad úrovní 2025 (46).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35040" y="1645920"/>
            <a:ext cx="5166360" cy="2057400"/>
          </a:xfrm>
          <a:prstGeom prst="roundRect">
            <a:avLst>
              <a:gd name="adj" fmla="val 3556"/>
            </a:avLst>
          </a:prstGeom>
          <a:solidFill>
            <a:srgbClr val="FAF9F6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82880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Reklamace rostou nákladově rychleji než počtem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309360" y="2359152"/>
            <a:ext cx="4617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Počet reklamací je meziročně podobný (47 vs. 44), ale finanční náklad vzrostl z 36 527 € na 44 750 € (+22 %) a průměrná cena na vůz vzrostla o 71 %.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166360" cy="2057400"/>
          </a:xfrm>
          <a:prstGeom prst="roundRect">
            <a:avLst>
              <a:gd name="adj" fmla="val 3556"/>
            </a:avLst>
          </a:prstGeom>
          <a:solidFill>
            <a:srgbClr val="FAF9F6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1480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Nakupujeme starší a najetější vozy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4645152"/>
            <a:ext cx="4617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Průměrné stáří při nákupu vzrostlo z 5,45 na 6,38 let a nájezd z 77 na 87 tis. km — reklamované vozy jsou přitom systematicky starší a najetější než průměr nákupu.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3931920"/>
            <a:ext cx="5166360" cy="2057400"/>
          </a:xfrm>
          <a:prstGeom prst="roundRect">
            <a:avLst>
              <a:gd name="adj" fmla="val 3556"/>
            </a:avLst>
          </a:prstGeom>
          <a:solidFill>
            <a:srgbClr val="FBF3E3"/>
          </a:solidFill>
          <a:ln w="19050">
            <a:solidFill>
              <a:srgbClr val="C9A6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411480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LR + Jaguar jsou nadprůměrně nákladová skupina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309360" y="4645152"/>
            <a:ext cx="4617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Reklamace spotřebovávají 50,5 % marže LR+Jaguar za 2025–2026. Ze 14 srovnávaných značek (Mercedes, BMW, Ford, Toyota, Hyundai, Kia, Škoda, VW, Volvo, Mazda, Renault, Peugeot, Citroën, Dacia) se žádná ani nepřiblíží — rozptyl je 4,8–22,6 %.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Carvago  |  Land Rover &amp; Jaguar — Prodeje a reklamace 2025–2026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2026-08-16T18:05:32Z</dcterms:created>
  <dcterms:modified xsi:type="dcterms:W3CDTF">2026-08-16T18:05:32Z</dcterms:modified>
</cp:coreProperties>
</file>